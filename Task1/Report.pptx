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61" r:id="rId3"/>
    <p:sldId id="257" r:id="rId4"/>
    <p:sldId id="258" r:id="rId5"/>
    <p:sldId id="259" r:id="rId6"/>
  </p:sldIdLst>
  <p:sldSz cx="16256000" cy="9144000"/>
  <p:notesSz cx="9144000" cy="16256000"/>
  <p:embeddedFontLst>
    <p:embeddedFont>
      <p:font typeface="Quattrocento Sans" panose="020F0502020204030204" pitchFamily="34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66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86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88000" y="3048000"/>
            <a:ext cx="5080000" cy="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1143000" y="3302000"/>
            <a:ext cx="1397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3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California Housing Price Prediction</a:t>
            </a:r>
            <a:endParaRPr lang="en-US" sz="3800" dirty="0"/>
          </a:p>
          <a:p>
            <a:pPr algn="ctr">
              <a:lnSpc>
                <a:spcPct val="130000"/>
              </a:lnSpc>
            </a:pPr>
            <a:r>
              <a:rPr lang="en-US" sz="3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Using Linear Regression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588000" y="5080000"/>
            <a:ext cx="5080000" cy="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4318000" y="5334000"/>
            <a:ext cx="762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E8EDE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 Assignment Summary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223000" y="6223000"/>
            <a:ext cx="3810000" cy="508000"/>
          </a:xfrm>
          <a:prstGeom prst="roundRect">
            <a:avLst>
              <a:gd name="adj" fmla="val 50000"/>
            </a:avLst>
          </a:prstGeom>
          <a:solidFill>
            <a:srgbClr val="FFFFFF">
              <a:alpha val="9412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23000" y="6223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EDA | Model | Performance | Insights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5000" y="3556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Linear Regression Model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35000" y="914400"/>
            <a:ext cx="14986000" cy="0"/>
          </a:xfrm>
          <a:prstGeom prst="straightConnector1">
            <a:avLst/>
          </a:prstGeom>
          <a:noFill/>
          <a:ln w="12700">
            <a:solidFill>
              <a:srgbClr val="7A9E7E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635000" y="1117600"/>
            <a:ext cx="7175500" cy="749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2500" y="1270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2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Overview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52500" y="1778000"/>
            <a:ext cx="6540500" cy="660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7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Dataset:</a:t>
            </a:r>
            <a:r>
              <a:rPr lang="en-US" sz="17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California Housing Dataset (sklearn.datasets)</a:t>
            </a:r>
            <a:endParaRPr lang="en-US" sz="17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Variable:</a:t>
            </a:r>
            <a:r>
              <a:rPr lang="en-US" sz="17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Median House Value (MedHouseVal)</a:t>
            </a:r>
            <a:endParaRPr lang="en-US" sz="17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Features (8):</a:t>
            </a:r>
            <a:endParaRPr lang="en-US" sz="1700" dirty="0"/>
          </a:p>
          <a:p>
            <a:pPr algn="l">
              <a:lnSpc>
                <a:spcPct val="150000"/>
              </a:lnSpc>
            </a:pPr>
            <a:r>
              <a:rPr lang="en-US" sz="17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MedInc, HouseAge, AveRooms, AveBedrms, Population, AveOccup, Latitude, Longitude</a:t>
            </a:r>
            <a:endParaRPr lang="en-US" sz="17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Samples:</a:t>
            </a:r>
            <a:r>
              <a:rPr lang="en-US" sz="17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20,640 California census block groups</a:t>
            </a:r>
            <a:endParaRPr lang="en-US" sz="17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Preprocessing:</a:t>
            </a:r>
            <a:endParaRPr lang="en-US" sz="1700" dirty="0"/>
          </a:p>
          <a:p>
            <a:pPr marL="269875" indent="-269875" algn="l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StandardScaler for feature normalization</a:t>
            </a:r>
            <a:endParaRPr lang="en-US" sz="1700" dirty="0"/>
          </a:p>
          <a:p>
            <a:pPr marL="269875" indent="-269875" algn="l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Train-test split: 80% / 20%</a:t>
            </a:r>
            <a:endParaRPr lang="en-US" sz="17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major missing-value issues detected during EDA.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064500" y="1117600"/>
            <a:ext cx="7556500" cy="749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82000" y="1270000"/>
            <a:ext cx="444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2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&amp; Training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382000" y="1778000"/>
            <a:ext cx="6921500" cy="660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7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Algorithm:</a:t>
            </a:r>
            <a:r>
              <a:rPr lang="en-US" sz="17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Ordinary Least Squares Linear Regression (scikit-learn)</a:t>
            </a:r>
            <a:endParaRPr lang="en-US" sz="17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Objective:</a:t>
            </a:r>
            <a:r>
              <a:rPr lang="en-US" sz="17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Minimize the sum of squared residuals between predicted and actual house values</a:t>
            </a:r>
            <a:endParaRPr lang="en-US" sz="17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Process:</a:t>
            </a:r>
            <a:endParaRPr lang="en-US" sz="1700" dirty="0"/>
          </a:p>
          <a:p>
            <a:pPr marL="269875" indent="-269875" algn="l">
              <a:lnSpc>
                <a:spcPct val="15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7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Load and explore the dataset</a:t>
            </a:r>
            <a:endParaRPr lang="en-US" sz="1700" dirty="0"/>
          </a:p>
          <a:p>
            <a:pPr marL="269875" indent="-269875" algn="l">
              <a:lnSpc>
                <a:spcPct val="15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7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Scale features using StandardScaler</a:t>
            </a:r>
            <a:endParaRPr lang="en-US" sz="1700" dirty="0"/>
          </a:p>
          <a:p>
            <a:pPr marL="269875" indent="-269875" algn="l">
              <a:lnSpc>
                <a:spcPct val="15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7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Split into training (80%) and test (20%) sets</a:t>
            </a:r>
            <a:endParaRPr lang="en-US" sz="1700" dirty="0"/>
          </a:p>
          <a:p>
            <a:pPr marL="269875" indent="-269875" algn="l">
              <a:lnSpc>
                <a:spcPct val="15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7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Fit Linear Regression model on training data</a:t>
            </a:r>
            <a:endParaRPr lang="en-US" sz="1700" dirty="0"/>
          </a:p>
          <a:p>
            <a:pPr marL="269875" indent="-269875" algn="l">
              <a:lnSpc>
                <a:spcPct val="15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7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 predictions on the test set</a:t>
            </a:r>
            <a:endParaRPr lang="en-US" sz="1700" dirty="0"/>
          </a:p>
          <a:p>
            <a:pPr marL="269875" indent="-269875" algn="l">
              <a:lnSpc>
                <a:spcPct val="150000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sz="17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Evaluate using MAE, MSE, RMSE, and R²</a:t>
            </a:r>
            <a:endParaRPr lang="en-US" sz="17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Assumption:</a:t>
            </a:r>
            <a:r>
              <a:rPr lang="en-US" sz="17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Linear relationship between features and target variable</a:t>
            </a:r>
            <a:endParaRPr lang="en-US" sz="17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5000" y="3556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Exploratory Data Analysis (EDA)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35000" y="914400"/>
            <a:ext cx="14986000" cy="0"/>
          </a:xfrm>
          <a:prstGeom prst="straightConnector1">
            <a:avLst/>
          </a:prstGeom>
          <a:noFill/>
          <a:ln w="12700">
            <a:solidFill>
              <a:srgbClr val="7A9E7E"/>
            </a:solidFill>
            <a:prstDash val="solid"/>
            <a:headEnd type="none"/>
            <a:tailEnd type="none"/>
          </a:ln>
        </p:spPr>
      </p:sp>
      <p:pic>
        <p:nvPicPr>
          <p:cNvPr id="4" name="Image 0" descr="https://kimi-img.moonshot.cn/pub/slides/okc/6o2skhoa4ee4w/mnt/agents/output/california_housing/images/output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5000" y="1041400"/>
            <a:ext cx="7239000" cy="2667000"/>
          </a:xfrm>
          <a:prstGeom prst="roundRect">
            <a:avLst>
              <a:gd name="adj" fmla="val 5000"/>
            </a:avLst>
          </a:prstGeom>
        </p:spPr>
      </p:pic>
      <p:pic>
        <p:nvPicPr>
          <p:cNvPr id="5" name="Image 1" descr="https://kimi-img.moonshot.cn/pub/slides/okc/6o2skhoa4ee4w/mnt/agents/output/california_housing/images/output2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128000" y="1041400"/>
            <a:ext cx="7493000" cy="2667000"/>
          </a:xfrm>
          <a:prstGeom prst="roundRect">
            <a:avLst>
              <a:gd name="adj" fmla="val 5000"/>
            </a:avLst>
          </a:prstGeom>
        </p:spPr>
      </p:pic>
      <p:pic>
        <p:nvPicPr>
          <p:cNvPr id="6" name="Image 2" descr="https://kimi-img.moonshot.cn/pub/slides/okc/6o2skhoa4ee4w/mnt/agents/output/california_housing/images/output3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35000" y="3962400"/>
            <a:ext cx="7239000" cy="2667000"/>
          </a:xfrm>
          <a:prstGeom prst="roundRect">
            <a:avLst>
              <a:gd name="adj" fmla="val 5000"/>
            </a:avLst>
          </a:prstGeom>
        </p:spPr>
      </p:pic>
      <p:pic>
        <p:nvPicPr>
          <p:cNvPr id="7" name="Image 3" descr="https://kimi-img.moonshot.cn/pub/slides/okc/6o2skhoa4ee4w/mnt/agents/output/california_housing/images/output4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128000" y="3962400"/>
            <a:ext cx="7493000" cy="2667000"/>
          </a:xfrm>
          <a:prstGeom prst="roundRect">
            <a:avLst>
              <a:gd name="adj" fmla="val 5000"/>
            </a:avLst>
          </a:prstGeom>
        </p:spPr>
      </p:pic>
      <p:sp>
        <p:nvSpPr>
          <p:cNvPr id="8" name="Text 2"/>
          <p:cNvSpPr/>
          <p:nvPr/>
        </p:nvSpPr>
        <p:spPr>
          <a:xfrm>
            <a:off x="635000" y="3733800"/>
            <a:ext cx="7239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7A9E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Fig.1 — Feature Histograms</a:t>
            </a:r>
            <a:endParaRPr lang="en-US" sz="1400" dirty="0"/>
          </a:p>
        </p:txBody>
      </p:sp>
      <p:sp>
        <p:nvSpPr>
          <p:cNvPr id="9" name="Text 3"/>
          <p:cNvSpPr/>
          <p:nvPr/>
        </p:nvSpPr>
        <p:spPr>
          <a:xfrm>
            <a:off x="8128000" y="3733800"/>
            <a:ext cx="7493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7A9E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Fig.2 — Correlation Heatmap</a:t>
            </a:r>
            <a:endParaRPr lang="en-US" sz="1400" dirty="0"/>
          </a:p>
        </p:txBody>
      </p:sp>
      <p:sp>
        <p:nvSpPr>
          <p:cNvPr id="10" name="Text 4"/>
          <p:cNvSpPr/>
          <p:nvPr/>
        </p:nvSpPr>
        <p:spPr>
          <a:xfrm>
            <a:off x="635000" y="6654800"/>
            <a:ext cx="7239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7A9E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Fig.1 — Feature Boxplots</a:t>
            </a:r>
            <a:endParaRPr lang="en-US" sz="1400" dirty="0"/>
          </a:p>
        </p:txBody>
      </p:sp>
      <p:sp>
        <p:nvSpPr>
          <p:cNvPr id="11" name="Text 5"/>
          <p:cNvSpPr/>
          <p:nvPr/>
        </p:nvSpPr>
        <p:spPr>
          <a:xfrm>
            <a:off x="8128000" y="6654800"/>
            <a:ext cx="7493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7A9E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Fig.3 — Distribution Plots with KDE</a:t>
            </a:r>
            <a:endParaRPr lang="en-US" sz="1400" dirty="0"/>
          </a:p>
        </p:txBody>
      </p:sp>
      <p:sp>
        <p:nvSpPr>
          <p:cNvPr id="12" name="Shape 6"/>
          <p:cNvSpPr/>
          <p:nvPr/>
        </p:nvSpPr>
        <p:spPr>
          <a:xfrm>
            <a:off x="635000" y="7048500"/>
            <a:ext cx="14986000" cy="1778000"/>
          </a:xfrm>
          <a:prstGeom prst="roundRect">
            <a:avLst>
              <a:gd name="adj" fmla="val 5000"/>
            </a:avLst>
          </a:prstGeom>
          <a:solidFill>
            <a:srgbClr val="E8EDE9"/>
          </a:solidFill>
          <a:ln/>
        </p:spPr>
      </p:sp>
      <p:sp>
        <p:nvSpPr>
          <p:cNvPr id="13" name="Text 7"/>
          <p:cNvSpPr/>
          <p:nvPr/>
        </p:nvSpPr>
        <p:spPr>
          <a:xfrm>
            <a:off x="889000" y="71374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Observations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889000" y="7467600"/>
            <a:ext cx="1447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MedInc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shows right skew; </a:t>
            </a: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HouseAge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multimodal. </a:t>
            </a: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AveRooms, AveBedrms, Population, AveOccup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are heavily right-skewed with significant outliers. Correlation heatmap: </a:t>
            </a: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MedInc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the strongest predictor of </a:t>
            </a: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MedHouseVal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(r = 0.69). Latitude and Longitude correlate at -0.92, confirming geographic clustering. No major missing-value issues observed.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5000" y="3556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Performance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35000" y="914400"/>
            <a:ext cx="14986000" cy="0"/>
          </a:xfrm>
          <a:prstGeom prst="straightConnector1">
            <a:avLst/>
          </a:prstGeom>
          <a:noFill/>
          <a:ln w="12700">
            <a:solidFill>
              <a:srgbClr val="7A9E7E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635000" y="1117600"/>
            <a:ext cx="7620000" cy="749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5" name="Image 0" descr="https://kimi-img.moonshot.cn/pub/slides/okc/6o2skhoa4ee4w/mnt/agents/output/california_housing/images/output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5500" y="1270000"/>
            <a:ext cx="7239000" cy="5334000"/>
          </a:xfrm>
          <a:prstGeom prst="roundRect">
            <a:avLst>
              <a:gd name="adj" fmla="val 5000"/>
            </a:avLst>
          </a:prstGeom>
        </p:spPr>
      </p:pic>
      <p:sp>
        <p:nvSpPr>
          <p:cNvPr id="6" name="Text 3"/>
          <p:cNvSpPr/>
          <p:nvPr/>
        </p:nvSpPr>
        <p:spPr>
          <a:xfrm>
            <a:off x="825500" y="6654800"/>
            <a:ext cx="723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7A9E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Fig.4 — Actual vs. Predicted House Values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5500" y="6985000"/>
            <a:ext cx="7239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scatter plot shows moderate alignment between actual and predicted values. Points cluster around the ideal prediction line, but significant spread indicates room for improvement.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509000" y="1117600"/>
            <a:ext cx="7112000" cy="749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26500" y="1270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2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Metrics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826500" y="1778000"/>
          <a:ext cx="6477000" cy="2794000"/>
        </p:xfrm>
        <a:graphic>
          <a:graphicData uri="http://schemas.openxmlformats.org/drawingml/2006/table">
            <a:tbl>
              <a:tblPr/>
              <a:tblGrid>
                <a:gridCol w="3562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4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Metric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Value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Mean Absolute Error (MAE)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0.5332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Mean Squared Error (MSE)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0.5559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Root Mean Squared Error (RMSE)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0.7456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R-squared (R²)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D4943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0.5758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8826500" y="4826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Summary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8826500" y="5270500"/>
            <a:ext cx="6477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MAE = 0.5332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relatively low average prediction error.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RMSE = 0.7456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moderate prediction deviations; larger errors penalized more heavily.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R² = 0.5758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the model explains </a:t>
            </a: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~57.6%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the variance in housing prices.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model provides a </a:t>
            </a: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reasonable baseline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predicting California house prices, with clear opportunities for improvement through advanced techniques.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5000" y="355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Improvement Ideas &amp; Conclusion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35000" y="914400"/>
            <a:ext cx="14986000" cy="0"/>
          </a:xfrm>
          <a:prstGeom prst="straightConnector1">
            <a:avLst/>
          </a:prstGeom>
          <a:noFill/>
          <a:ln w="12700">
            <a:solidFill>
              <a:srgbClr val="7A9E7E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635000" y="1117600"/>
            <a:ext cx="7175500" cy="749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2500" y="12954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251863" y="247650"/>
                </a:moveTo>
                <a:cubicBezTo>
                  <a:pt x="258141" y="233268"/>
                  <a:pt x="270695" y="220241"/>
                  <a:pt x="284883" y="209019"/>
                </a:cubicBezTo>
                <a:cubicBezTo>
                  <a:pt x="313002" y="186834"/>
                  <a:pt x="330200" y="156845"/>
                  <a:pt x="330200" y="123825"/>
                </a:cubicBezTo>
                <a:cubicBezTo>
                  <a:pt x="330200" y="55463"/>
                  <a:pt x="256249" y="0"/>
                  <a:pt x="165100" y="0"/>
                </a:cubicBezTo>
                <a:cubicBezTo>
                  <a:pt x="73951" y="0"/>
                  <a:pt x="0" y="55463"/>
                  <a:pt x="0" y="123825"/>
                </a:cubicBezTo>
                <a:cubicBezTo>
                  <a:pt x="0" y="156845"/>
                  <a:pt x="17198" y="186834"/>
                  <a:pt x="45317" y="209019"/>
                </a:cubicBezTo>
                <a:cubicBezTo>
                  <a:pt x="59505" y="220241"/>
                  <a:pt x="72145" y="233268"/>
                  <a:pt x="78337" y="247650"/>
                </a:cubicBezTo>
                <a:lnTo>
                  <a:pt x="251777" y="247650"/>
                </a:lnTo>
                <a:close/>
                <a:moveTo>
                  <a:pt x="247650" y="278606"/>
                </a:moveTo>
                <a:lnTo>
                  <a:pt x="82550" y="278606"/>
                </a:lnTo>
                <a:lnTo>
                  <a:pt x="82550" y="288925"/>
                </a:lnTo>
                <a:cubicBezTo>
                  <a:pt x="82550" y="317431"/>
                  <a:pt x="113334" y="340519"/>
                  <a:pt x="151342" y="340519"/>
                </a:cubicBezTo>
                <a:lnTo>
                  <a:pt x="178858" y="340519"/>
                </a:lnTo>
                <a:cubicBezTo>
                  <a:pt x="216866" y="340519"/>
                  <a:pt x="247650" y="317431"/>
                  <a:pt x="247650" y="288925"/>
                </a:cubicBezTo>
                <a:lnTo>
                  <a:pt x="247650" y="278606"/>
                </a:lnTo>
                <a:close/>
                <a:moveTo>
                  <a:pt x="158221" y="72231"/>
                </a:moveTo>
                <a:cubicBezTo>
                  <a:pt x="123997" y="72231"/>
                  <a:pt x="96308" y="92998"/>
                  <a:pt x="96308" y="118666"/>
                </a:cubicBezTo>
                <a:cubicBezTo>
                  <a:pt x="96308" y="127243"/>
                  <a:pt x="87107" y="134144"/>
                  <a:pt x="75671" y="134144"/>
                </a:cubicBezTo>
                <a:cubicBezTo>
                  <a:pt x="64234" y="134144"/>
                  <a:pt x="55033" y="127243"/>
                  <a:pt x="55033" y="118666"/>
                </a:cubicBezTo>
                <a:cubicBezTo>
                  <a:pt x="55033" y="75907"/>
                  <a:pt x="101210" y="41275"/>
                  <a:pt x="158221" y="41275"/>
                </a:cubicBezTo>
                <a:cubicBezTo>
                  <a:pt x="169657" y="41275"/>
                  <a:pt x="178858" y="48176"/>
                  <a:pt x="178858" y="56753"/>
                </a:cubicBezTo>
                <a:cubicBezTo>
                  <a:pt x="178858" y="65331"/>
                  <a:pt x="169657" y="72231"/>
                  <a:pt x="158221" y="72231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6" name="Text 4"/>
          <p:cNvSpPr/>
          <p:nvPr/>
        </p:nvSpPr>
        <p:spPr>
          <a:xfrm>
            <a:off x="1397000" y="1270000"/>
            <a:ext cx="444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200" b="1" dirty="0">
                <a:solidFill>
                  <a:srgbClr val="1B5E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Improvement Ideas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52500" y="1841500"/>
            <a:ext cx="6540500" cy="660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7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Engineering</a:t>
            </a:r>
            <a:endParaRPr lang="en-US" sz="1700" dirty="0"/>
          </a:p>
          <a:p>
            <a:pPr algn="l">
              <a:lnSpc>
                <a:spcPct val="155000"/>
              </a:lnSpc>
            </a:pPr>
            <a:r>
              <a:rPr lang="en-US" sz="17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polynomial features and interaction terms to capture non-linear relationships between variables.</a:t>
            </a:r>
            <a:endParaRPr lang="en-US" sz="1700" dirty="0"/>
          </a:p>
          <a:p>
            <a:pPr algn="l">
              <a:lnSpc>
                <a:spcPct val="155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Polynomial Regression</a:t>
            </a:r>
            <a:endParaRPr lang="en-US" sz="1700" dirty="0"/>
          </a:p>
          <a:p>
            <a:pPr algn="l">
              <a:lnSpc>
                <a:spcPct val="155000"/>
              </a:lnSpc>
            </a:pPr>
            <a:r>
              <a:rPr lang="en-US" sz="17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Extend the linear model with squared and higher-order terms to fit curved patterns in the data.</a:t>
            </a:r>
            <a:endParaRPr lang="en-US" sz="1700" dirty="0"/>
          </a:p>
          <a:p>
            <a:pPr algn="l">
              <a:lnSpc>
                <a:spcPct val="155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Ensemble Methods</a:t>
            </a:r>
            <a:endParaRPr lang="en-US" sz="1700" dirty="0"/>
          </a:p>
          <a:p>
            <a:pPr algn="l">
              <a:lnSpc>
                <a:spcPct val="155000"/>
              </a:lnSpc>
            </a:pPr>
            <a:r>
              <a:rPr lang="en-US" sz="17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Forest, Gradient Boosting, and XGBoost can model complex feature interactions more effectively.</a:t>
            </a:r>
            <a:endParaRPr lang="en-US" sz="1700" dirty="0"/>
          </a:p>
          <a:p>
            <a:pPr algn="l">
              <a:lnSpc>
                <a:spcPct val="155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Hyperparameter Tuning</a:t>
            </a:r>
            <a:endParaRPr lang="en-US" sz="1700" dirty="0"/>
          </a:p>
          <a:p>
            <a:pPr algn="l">
              <a:lnSpc>
                <a:spcPct val="155000"/>
              </a:lnSpc>
            </a:pPr>
            <a:r>
              <a:rPr lang="en-US" sz="17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Grid search or random search with K-fold cross-validation for robust, optimized model evaluation.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064500" y="1117600"/>
            <a:ext cx="7556500" cy="7493000"/>
          </a:xfrm>
          <a:prstGeom prst="roundRect">
            <a:avLst>
              <a:gd name="adj" fmla="val 5000"/>
            </a:avLst>
          </a:prstGeom>
          <a:solidFill>
            <a:srgbClr val="1B5E3B"/>
          </a:solidFill>
          <a:ln/>
        </p:spPr>
      </p:sp>
      <p:sp>
        <p:nvSpPr>
          <p:cNvPr id="9" name="Shape 7"/>
          <p:cNvSpPr/>
          <p:nvPr/>
        </p:nvSpPr>
        <p:spPr>
          <a:xfrm>
            <a:off x="8382000" y="12954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65100" y="330200"/>
                </a:moveTo>
                <a:cubicBezTo>
                  <a:pt x="256221" y="330200"/>
                  <a:pt x="330200" y="256221"/>
                  <a:pt x="330200" y="165100"/>
                </a:cubicBezTo>
                <a:cubicBezTo>
                  <a:pt x="330200" y="73979"/>
                  <a:pt x="256221" y="0"/>
                  <a:pt x="165100" y="0"/>
                </a:cubicBezTo>
                <a:cubicBezTo>
                  <a:pt x="73979" y="0"/>
                  <a:pt x="0" y="73979"/>
                  <a:pt x="0" y="165100"/>
                </a:cubicBezTo>
                <a:cubicBezTo>
                  <a:pt x="0" y="256221"/>
                  <a:pt x="73979" y="330200"/>
                  <a:pt x="165100" y="330200"/>
                </a:cubicBezTo>
                <a:close/>
                <a:moveTo>
                  <a:pt x="219531" y="137175"/>
                </a:moveTo>
                <a:lnTo>
                  <a:pt x="167938" y="219725"/>
                </a:lnTo>
                <a:cubicBezTo>
                  <a:pt x="165229" y="224046"/>
                  <a:pt x="160586" y="226755"/>
                  <a:pt x="155491" y="227013"/>
                </a:cubicBezTo>
                <a:cubicBezTo>
                  <a:pt x="150396" y="227270"/>
                  <a:pt x="145494" y="224949"/>
                  <a:pt x="142463" y="220821"/>
                </a:cubicBezTo>
                <a:lnTo>
                  <a:pt x="111507" y="179546"/>
                </a:lnTo>
                <a:cubicBezTo>
                  <a:pt x="106348" y="172710"/>
                  <a:pt x="107766" y="163036"/>
                  <a:pt x="114603" y="157877"/>
                </a:cubicBezTo>
                <a:cubicBezTo>
                  <a:pt x="121439" y="152718"/>
                  <a:pt x="131113" y="154136"/>
                  <a:pt x="136272" y="160973"/>
                </a:cubicBezTo>
                <a:lnTo>
                  <a:pt x="153685" y="184190"/>
                </a:lnTo>
                <a:lnTo>
                  <a:pt x="193283" y="120794"/>
                </a:lnTo>
                <a:cubicBezTo>
                  <a:pt x="197798" y="113571"/>
                  <a:pt x="207342" y="111314"/>
                  <a:pt x="214630" y="115892"/>
                </a:cubicBezTo>
                <a:cubicBezTo>
                  <a:pt x="221918" y="120471"/>
                  <a:pt x="224110" y="129952"/>
                  <a:pt x="219531" y="137239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0" name="Text 8"/>
          <p:cNvSpPr/>
          <p:nvPr/>
        </p:nvSpPr>
        <p:spPr>
          <a:xfrm>
            <a:off x="8826500" y="1270000"/>
            <a:ext cx="444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382000" y="1905000"/>
            <a:ext cx="69215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Successfully implemented a </a:t>
            </a:r>
            <a:r>
              <a:rPr lang="en-US" sz="1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Linear Regression model</a:t>
            </a: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California housing price prediction.</a:t>
            </a:r>
            <a:endParaRPr lang="en-US" sz="17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Conducted comprehensive </a:t>
            </a:r>
            <a:r>
              <a:rPr lang="en-US" sz="1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EDA</a:t>
            </a: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understand feature distributions, correlations, and data quality.</a:t>
            </a:r>
            <a:endParaRPr lang="en-US" sz="17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Evaluated the model using </a:t>
            </a:r>
            <a:r>
              <a:rPr lang="en-US" sz="1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MAE, MSE, RMSE, and R²</a:t>
            </a: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metrics.</a:t>
            </a:r>
            <a:endParaRPr lang="en-US" sz="17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model achieved </a:t>
            </a:r>
            <a:r>
              <a:rPr lang="en-US" sz="17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R² = 0.5758</a:t>
            </a: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indicating moderate predictive performance.</a:t>
            </a:r>
            <a:endParaRPr lang="en-US" sz="17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More advanced regression models and additional feature engineering can further improve accuracy.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382000" y="6350000"/>
            <a:ext cx="762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3" name="Text 11"/>
          <p:cNvSpPr/>
          <p:nvPr/>
        </p:nvSpPr>
        <p:spPr>
          <a:xfrm>
            <a:off x="8382000" y="6604000"/>
            <a:ext cx="6921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California Housing Price Prediction | Machine Learning Assignment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552</Words>
  <Application>Microsoft Office PowerPoint</Application>
  <PresentationFormat>Custom</PresentationFormat>
  <Paragraphs>74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Quattrocento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California Housing Price Prediction Using Linear Regression</dc:title>
  <dc:subject>California Housing Price Prediction Using Linear Regression</dc:subject>
  <dc:creator>Kimi</dc:creator>
  <cp:lastModifiedBy>KAUSHIK DAS</cp:lastModifiedBy>
  <cp:revision>2</cp:revision>
  <dcterms:created xsi:type="dcterms:W3CDTF">2026-07-14T08:28:51Z</dcterms:created>
  <dcterms:modified xsi:type="dcterms:W3CDTF">2026-07-14T08:30:30Z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{"Label":"California Housing Price Prediction Using Linear Regression","ContentProducer":"001191110108MACG2KBH8F10000","ProduceID":"19f5f7fd-f802-87f5-8000-00006588d5d5","ReservedCode1":"","ContentPropagator":"001191110108MACG2KBH8F20000","PropagateID":"19f5f7b0-b0f2-8f4b-8000-0959b997c90c","ReservedCode2":""}</vt:lpwstr>
  </property>
</Properties>
</file>